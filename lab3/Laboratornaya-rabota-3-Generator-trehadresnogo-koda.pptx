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Alexandria Semi Bold" panose="020B0604020202020204" charset="-78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Sora Light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2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121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067997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Лабораторная работа №3: Генератор трехадресного кода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53104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Студент группы 3092 Мосягин Н. В.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5121473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Проверил: ассистент Яковлев Н. С. Кафедра общей и экспериментальной физики Новгородский государственный университет им. Ярослава Мудрого 2025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061" y="534472"/>
            <a:ext cx="5098613" cy="637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Постановка задачи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78061" y="1559123"/>
            <a:ext cx="1327427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Цель: Разработать компилятор на C++ для простого императивного языка с полным циклом трансляции.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78061" y="2086928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3010" y="2113657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07663" y="2153483"/>
            <a:ext cx="3700224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Лексический анализ (токены)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78061" y="2910245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010" y="2936974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07663" y="2976801"/>
            <a:ext cx="3726180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Синтаксический анализ (AST)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78061" y="3733562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010" y="3760291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07663" y="3800118"/>
            <a:ext cx="7704653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Семантический анализ (типы, области видимости) — </a:t>
            </a:r>
            <a:r>
              <a:rPr lang="en-US" sz="20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+3 балла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8061" y="4556879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010" y="4583609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07663" y="4623435"/>
            <a:ext cx="627447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Генерация трехадресного кода (TAC) — </a:t>
            </a:r>
            <a:r>
              <a:rPr lang="en-US" sz="20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+15 баллов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78061" y="5380196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010" y="5406926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07663" y="5446752"/>
            <a:ext cx="694158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Оптимизация (dead code, constant folding) — </a:t>
            </a:r>
            <a:r>
              <a:rPr lang="en-US" sz="20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+4 балла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8061" y="6203513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010" y="6230243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07663" y="6270069"/>
            <a:ext cx="2549247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Интерпретация TAC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8061" y="6857286"/>
            <a:ext cx="1327427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Поддержка языка: int/bool, арифметика (+-\*/%), логика (&amp;&amp;||!), сравнения (==&lt;&gt;), if/while/for, print().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8061" y="7385090"/>
            <a:ext cx="1327427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Грамматика: Рекурсивно-спусковая (LL(1)), см. отчет для BNF.</a:t>
            </a:r>
            <a:endParaRPr lang="en-US" sz="150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53AB19B-6DAC-4C32-8805-BA2D2A571A70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946" y="408503"/>
            <a:ext cx="5016818" cy="488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Архитектура компилятора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19946" y="1194316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Модульная структура (4 основных компонента):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05" y="1599009"/>
            <a:ext cx="13478470" cy="58122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2819" y="6298866"/>
            <a:ext cx="3218584" cy="40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CodeGen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82819" y="4953419"/>
            <a:ext cx="3218584" cy="402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Semantic Analyzer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82819" y="3621561"/>
            <a:ext cx="3218584" cy="402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Parser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82819" y="2276114"/>
            <a:ext cx="3218584" cy="40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Lexer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9946" y="7578328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Lexer (из ЛР1):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Токены, ключевые слова (O(1) хеш), операторы (O(log n)), комментарии.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19946" y="7867888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Parser: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Рекурсивный спуск, AST-узлы с типами/позициями.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9946" y="8157448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Semantic: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Таблица символов, проверка типов/видимости.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9946" y="8447008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CLI: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-tokens, -ast, -noopt, -o file.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19946" y="8736568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AST-узел: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type, value, children, line/col, dataType.</a:t>
            </a:r>
            <a:endParaRPr lang="en-US" sz="11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8BC423F-4AAD-48CC-B506-99BC909672DF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828" y="745212"/>
            <a:ext cx="9868495" cy="67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Генерация трехадресного кода (TAC)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2828" y="1837611"/>
            <a:ext cx="131847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TAC — промежуточное представление (≤3 операнда):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2828" y="2400419"/>
            <a:ext cx="13184743" cy="1962150"/>
          </a:xfrm>
          <a:prstGeom prst="roundRect">
            <a:avLst>
              <a:gd name="adj" fmla="val 4421"/>
            </a:avLst>
          </a:prstGeom>
          <a:solidFill>
            <a:srgbClr val="F2EDED"/>
          </a:solidFill>
          <a:ln/>
        </p:spPr>
      </p:sp>
      <p:sp>
        <p:nvSpPr>
          <p:cNvPr id="5" name="Shape 3"/>
          <p:cNvSpPr/>
          <p:nvPr/>
        </p:nvSpPr>
        <p:spPr>
          <a:xfrm>
            <a:off x="712589" y="2400419"/>
            <a:ext cx="13205222" cy="1962150"/>
          </a:xfrm>
          <a:prstGeom prst="roundRect">
            <a:avLst>
              <a:gd name="adj" fmla="val 1579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919043" y="2555200"/>
            <a:ext cx="12792313" cy="165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t1 = a + b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t2 = -t1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if t1 goto L1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 = t2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print(c)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828" y="4594860"/>
            <a:ext cx="131847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Алгоритм: Обход AST в глубину (post-order).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2828" y="5157668"/>
            <a:ext cx="4257199" cy="798195"/>
          </a:xfrm>
          <a:prstGeom prst="roundRect">
            <a:avLst>
              <a:gd name="adj" fmla="val 13747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968" y="5157668"/>
            <a:ext cx="91440" cy="798195"/>
          </a:xfrm>
          <a:prstGeom prst="roundRect">
            <a:avLst>
              <a:gd name="adj" fmla="val 94862"/>
            </a:avLst>
          </a:prstGeom>
          <a:solidFill>
            <a:srgbClr val="1A2D7A"/>
          </a:solidFill>
          <a:ln/>
        </p:spPr>
      </p:sp>
      <p:sp>
        <p:nvSpPr>
          <p:cNvPr id="10" name="Text 8"/>
          <p:cNvSpPr/>
          <p:nvPr/>
        </p:nvSpPr>
        <p:spPr>
          <a:xfrm>
            <a:off x="1020723" y="5386983"/>
            <a:ext cx="271736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newTemp() → t0, t1...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86482" y="5157668"/>
            <a:ext cx="4257318" cy="798195"/>
          </a:xfrm>
          <a:prstGeom prst="roundRect">
            <a:avLst>
              <a:gd name="adj" fmla="val 13747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3622" y="5157668"/>
            <a:ext cx="91440" cy="798195"/>
          </a:xfrm>
          <a:prstGeom prst="roundRect">
            <a:avLst>
              <a:gd name="adj" fmla="val 94862"/>
            </a:avLst>
          </a:prstGeom>
          <a:solidFill>
            <a:srgbClr val="1A2D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4376" y="5386983"/>
            <a:ext cx="2751534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newLabel() → L0, L1...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650254" y="5157668"/>
            <a:ext cx="4257199" cy="798195"/>
          </a:xfrm>
          <a:prstGeom prst="roundRect">
            <a:avLst>
              <a:gd name="adj" fmla="val 13747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27394" y="5157668"/>
            <a:ext cx="91440" cy="798195"/>
          </a:xfrm>
          <a:prstGeom prst="roundRect">
            <a:avLst>
              <a:gd name="adj" fmla="val 94862"/>
            </a:avLst>
          </a:prstGeom>
          <a:solidFill>
            <a:srgbClr val="1A2D7A"/>
          </a:solidFill>
          <a:ln/>
        </p:spPr>
      </p:sp>
      <p:sp>
        <p:nvSpPr>
          <p:cNvPr id="16" name="Text 14"/>
          <p:cNvSpPr/>
          <p:nvPr/>
        </p:nvSpPr>
        <p:spPr>
          <a:xfrm>
            <a:off x="9948148" y="5386983"/>
            <a:ext cx="3550087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emit(op, arg1, arg2, result)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2828" y="6188154"/>
            <a:ext cx="131847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Примеры: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828" y="6750963"/>
            <a:ext cx="131847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BinOp: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temp = left op right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828" y="7153751"/>
            <a:ext cx="131847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If: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ifz cond goto L_false; then; goto L_end; L_false: else; L_end:</a:t>
            </a:r>
            <a:endParaRPr lang="en-US" sz="16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A935D13-2D73-4745-83F4-6F6DC0320E78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8711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Оптимизация TAC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83309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Две оптимизации: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640098"/>
            <a:ext cx="6251615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Constant Folding (свертка констант):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758309" y="4311372"/>
            <a:ext cx="6292572" cy="1018223"/>
          </a:xfrm>
          <a:prstGeom prst="roundRect">
            <a:avLst>
              <a:gd name="adj" fmla="val 8937"/>
            </a:avLst>
          </a:prstGeom>
          <a:solidFill>
            <a:srgbClr val="F2EDED"/>
          </a:solidFill>
          <a:ln/>
        </p:spPr>
      </p:sp>
      <p:sp>
        <p:nvSpPr>
          <p:cNvPr id="6" name="Shape 4"/>
          <p:cNvSpPr/>
          <p:nvPr/>
        </p:nvSpPr>
        <p:spPr>
          <a:xfrm>
            <a:off x="747593" y="4311372"/>
            <a:ext cx="6314003" cy="1018223"/>
          </a:xfrm>
          <a:prstGeom prst="roundRect">
            <a:avLst>
              <a:gd name="adj" fmla="val 3192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964168" y="4473773"/>
            <a:ext cx="588085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Исход: t1 = 2 * 3; t2 = t1 + 5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После: t1 = 6; t2 = 11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3640098"/>
            <a:ext cx="6292572" cy="85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Dead Code Elimination (удаление мертвого кода):</a:t>
            </a:r>
            <a:endParaRPr lang="en-US" sz="2650" dirty="0"/>
          </a:p>
        </p:txBody>
      </p:sp>
      <p:sp>
        <p:nvSpPr>
          <p:cNvPr id="9" name="Shape 7"/>
          <p:cNvSpPr/>
          <p:nvPr/>
        </p:nvSpPr>
        <p:spPr>
          <a:xfrm>
            <a:off x="7587139" y="4738926"/>
            <a:ext cx="6292572" cy="1018223"/>
          </a:xfrm>
          <a:prstGeom prst="roundRect">
            <a:avLst>
              <a:gd name="adj" fmla="val 8937"/>
            </a:avLst>
          </a:prstGeom>
          <a:solidFill>
            <a:srgbClr val="F2EDED"/>
          </a:solidFill>
          <a:ln/>
        </p:spPr>
      </p:sp>
      <p:sp>
        <p:nvSpPr>
          <p:cNvPr id="10" name="Shape 8"/>
          <p:cNvSpPr/>
          <p:nvPr/>
        </p:nvSpPr>
        <p:spPr>
          <a:xfrm>
            <a:off x="7576423" y="4738926"/>
            <a:ext cx="6314003" cy="1018223"/>
          </a:xfrm>
          <a:prstGeom prst="roundRect">
            <a:avLst>
              <a:gd name="adj" fmla="val 3192"/>
            </a:avLst>
          </a:prstGeom>
          <a:solidFill>
            <a:srgbClr val="F2EDED"/>
          </a:solidFill>
          <a:ln/>
        </p:spPr>
      </p:sp>
      <p:sp>
        <p:nvSpPr>
          <p:cNvPr id="11" name="Text 9"/>
          <p:cNvSpPr/>
          <p:nvPr/>
        </p:nvSpPr>
        <p:spPr>
          <a:xfrm>
            <a:off x="7792998" y="4901327"/>
            <a:ext cx="588085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Исход: t1 = a + b; t2 = c * 2; print(t2)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После: t2 = c * 2; print(t2)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7139" y="6000869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Граф использования переменных → удалить неживые.</a:t>
            </a:r>
            <a:endParaRPr lang="en-US" sz="17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4568670-D81D-49EF-82DC-07FE4523850F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518" y="563761"/>
            <a:ext cx="13197364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Результаты тестирования — Пример 1 (вычисления)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6518" y="1992392"/>
            <a:ext cx="323230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Вход: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16518" y="2703433"/>
            <a:ext cx="13197364" cy="1616631"/>
          </a:xfrm>
          <a:prstGeom prst="roundRect">
            <a:avLst>
              <a:gd name="adj" fmla="val 5319"/>
            </a:avLst>
          </a:prstGeom>
          <a:solidFill>
            <a:srgbClr val="F2EDED"/>
          </a:solidFill>
          <a:ln/>
        </p:spPr>
      </p:sp>
      <p:sp>
        <p:nvSpPr>
          <p:cNvPr id="5" name="Shape 3"/>
          <p:cNvSpPr/>
          <p:nvPr/>
        </p:nvSpPr>
        <p:spPr>
          <a:xfrm>
            <a:off x="706398" y="2703433"/>
            <a:ext cx="13217604" cy="1616631"/>
          </a:xfrm>
          <a:prstGeom prst="roundRect">
            <a:avLst>
              <a:gd name="adj" fmla="val 1900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911066" y="2856905"/>
            <a:ext cx="12808268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a = 10;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b = 20;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c = a + b * 2;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print(c);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6518" y="4627126"/>
            <a:ext cx="323230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TAC: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16518" y="5338167"/>
            <a:ext cx="13197364" cy="1616631"/>
          </a:xfrm>
          <a:prstGeom prst="roundRect">
            <a:avLst>
              <a:gd name="adj" fmla="val 5319"/>
            </a:avLst>
          </a:prstGeom>
          <a:solidFill>
            <a:srgbClr val="F2EDED"/>
          </a:solidFill>
          <a:ln/>
        </p:spPr>
      </p:sp>
      <p:sp>
        <p:nvSpPr>
          <p:cNvPr id="9" name="Shape 7"/>
          <p:cNvSpPr/>
          <p:nvPr/>
        </p:nvSpPr>
        <p:spPr>
          <a:xfrm>
            <a:off x="706398" y="5338167"/>
            <a:ext cx="13217604" cy="1616631"/>
          </a:xfrm>
          <a:prstGeom prst="roundRect">
            <a:avLst>
              <a:gd name="adj" fmla="val 190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911066" y="5491639"/>
            <a:ext cx="12808268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0: t1 = b * 2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1: t2 = a + t1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2: c = t2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3: print(c)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6518" y="7261860"/>
            <a:ext cx="323230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Вывод: 50</a:t>
            </a:r>
            <a:endParaRPr lang="en-US" sz="25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8099659-4363-4BEE-AFA3-1CCC262C8CC7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98652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Результаты тестирования — Пример 2 (if) и Пример 3 (while)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565565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If (x=5 &gt;3):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58309" y="4236839"/>
            <a:ext cx="6292572" cy="1018223"/>
          </a:xfrm>
          <a:prstGeom prst="roundRect">
            <a:avLst>
              <a:gd name="adj" fmla="val 8937"/>
            </a:avLst>
          </a:prstGeom>
          <a:solidFill>
            <a:srgbClr val="F2EDED"/>
          </a:solidFill>
          <a:ln/>
        </p:spPr>
      </p:sp>
      <p:sp>
        <p:nvSpPr>
          <p:cNvPr id="5" name="Shape 3"/>
          <p:cNvSpPr/>
          <p:nvPr/>
        </p:nvSpPr>
        <p:spPr>
          <a:xfrm>
            <a:off x="747593" y="4236839"/>
            <a:ext cx="6314003" cy="1018223"/>
          </a:xfrm>
          <a:prstGeom prst="roundRect">
            <a:avLst>
              <a:gd name="adj" fmla="val 3192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964168" y="4399240"/>
            <a:ext cx="588085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TAC: x=5; t1=x&gt;3; ifz t1 goto L2; print(100); goto L3; L2: print(200); L3: nop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49878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Вывод: 100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3565565"/>
            <a:ext cx="346745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While (i&lt;3, print i++):</a:t>
            </a:r>
            <a:endParaRPr lang="en-US" sz="2650" dirty="0"/>
          </a:p>
        </p:txBody>
      </p:sp>
      <p:sp>
        <p:nvSpPr>
          <p:cNvPr id="9" name="Shape 7"/>
          <p:cNvSpPr/>
          <p:nvPr/>
        </p:nvSpPr>
        <p:spPr>
          <a:xfrm>
            <a:off x="7587139" y="4236839"/>
            <a:ext cx="6292572" cy="1018223"/>
          </a:xfrm>
          <a:prstGeom prst="roundRect">
            <a:avLst>
              <a:gd name="adj" fmla="val 8937"/>
            </a:avLst>
          </a:prstGeom>
          <a:solidFill>
            <a:srgbClr val="F2EDED"/>
          </a:solidFill>
          <a:ln/>
        </p:spPr>
      </p:sp>
      <p:sp>
        <p:nvSpPr>
          <p:cNvPr id="10" name="Shape 8"/>
          <p:cNvSpPr/>
          <p:nvPr/>
        </p:nvSpPr>
        <p:spPr>
          <a:xfrm>
            <a:off x="7576423" y="4236839"/>
            <a:ext cx="6314003" cy="1018223"/>
          </a:xfrm>
          <a:prstGeom prst="roundRect">
            <a:avLst>
              <a:gd name="adj" fmla="val 3192"/>
            </a:avLst>
          </a:prstGeom>
          <a:solidFill>
            <a:srgbClr val="F2EDED"/>
          </a:solidFill>
          <a:ln/>
        </p:spPr>
      </p:sp>
      <p:sp>
        <p:nvSpPr>
          <p:cNvPr id="11" name="Text 9"/>
          <p:cNvSpPr/>
          <p:nvPr/>
        </p:nvSpPr>
        <p:spPr>
          <a:xfrm>
            <a:off x="7792998" y="4399240"/>
            <a:ext cx="588085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TAC: i=0; L0: t1=i&lt;3; ifz t1 goto L1; print(i); t2=i+1; i=t2; goto L0; L1: nop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7139" y="549878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Вывод: 0 1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309" y="628411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Оптимизация (const): t1=10\*2 →20; t2=20+5→25; print(25)</a:t>
            </a:r>
            <a:endParaRPr lang="en-US" sz="17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BDB51A2-C188-4D3D-AEA8-1CA4362A5080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93815"/>
            <a:ext cx="822376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Обработка ошибок и выводы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13979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Ошибки: Неопределенные переменные, типы, синтаксис, ;.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2730222"/>
            <a:ext cx="4226838" cy="2027396"/>
          </a:xfrm>
          <a:prstGeom prst="roundRect">
            <a:avLst>
              <a:gd name="adj" fmla="val 44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504" y="29544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17" y="3133130"/>
            <a:ext cx="292418" cy="292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2504" y="3820954"/>
            <a:ext cx="377844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Lexer/Parser/AST — полностью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201722" y="2730222"/>
            <a:ext cx="4226838" cy="2027396"/>
          </a:xfrm>
          <a:prstGeom prst="roundRect">
            <a:avLst>
              <a:gd name="adj" fmla="val 44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5916" y="29544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4629" y="3133130"/>
            <a:ext cx="292418" cy="2924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5916" y="3820954"/>
            <a:ext cx="292358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Semantic — </a:t>
            </a:r>
            <a:r>
              <a:rPr lang="en-US" sz="2200" dirty="0">
                <a:solidFill>
                  <a:srgbClr val="D3DCF6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+3 балла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9645134" y="2730222"/>
            <a:ext cx="4226957" cy="2027396"/>
          </a:xfrm>
          <a:prstGeom prst="roundRect">
            <a:avLst>
              <a:gd name="adj" fmla="val 44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869329" y="29544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8042" y="3133130"/>
            <a:ext cx="292418" cy="2924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69329" y="38209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TAC — </a:t>
            </a:r>
            <a:r>
              <a:rPr lang="en-US" sz="2200" dirty="0">
                <a:solidFill>
                  <a:srgbClr val="D3DCF6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+15 баллов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758309" y="4974193"/>
            <a:ext cx="6448544" cy="1671161"/>
          </a:xfrm>
          <a:prstGeom prst="roundRect">
            <a:avLst>
              <a:gd name="adj" fmla="val 544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82504" y="5198388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1217" y="5377101"/>
            <a:ext cx="292418" cy="2924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2504" y="6064925"/>
            <a:ext cx="300656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Optimizer — </a:t>
            </a:r>
            <a:r>
              <a:rPr lang="en-US" sz="2200" dirty="0">
                <a:solidFill>
                  <a:srgbClr val="D3DCF6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+4 балла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7423428" y="4974193"/>
            <a:ext cx="6448663" cy="1671161"/>
          </a:xfrm>
          <a:prstGeom prst="roundRect">
            <a:avLst>
              <a:gd name="adj" fmla="val 544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647623" y="5198388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6335" y="5377101"/>
            <a:ext cx="292418" cy="2924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47623" y="6064925"/>
            <a:ext cx="318516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Interpreter — работает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758309" y="688907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Компилятор готов к использованию с CLI!</a:t>
            </a:r>
            <a:endParaRPr lang="en-US" sz="170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8B03F20-2ACD-4394-A4C8-758775207952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658</Words>
  <Application>Microsoft Office PowerPoint</Application>
  <PresentationFormat>Произвольный</PresentationFormat>
  <Paragraphs>89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Sora Light</vt:lpstr>
      <vt:lpstr>Calibri</vt:lpstr>
      <vt:lpstr>Consolas Light</vt:lpstr>
      <vt:lpstr>Alexandria Semi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Глеб Карпухин</dc:creator>
  <cp:lastModifiedBy>Глеб</cp:lastModifiedBy>
  <cp:revision>2</cp:revision>
  <dcterms:created xsi:type="dcterms:W3CDTF">2025-12-25T10:41:28Z</dcterms:created>
  <dcterms:modified xsi:type="dcterms:W3CDTF">2025-12-25T10:43:47Z</dcterms:modified>
</cp:coreProperties>
</file>